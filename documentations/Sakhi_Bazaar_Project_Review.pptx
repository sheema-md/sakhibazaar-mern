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A18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0" y="0"/>
            <a:ext cx="3504895" cy="6858000"/>
          </a:xfrm>
          <a:prstGeom prst="rect">
            <a:avLst/>
          </a:prstGeom>
          <a:solidFill>
            <a:srgbClr val="4B0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0800000">
            <a:off x="7772400" y="0"/>
            <a:ext cx="914400" cy="6858000"/>
          </a:xfrm>
          <a:prstGeom prst="rtTriangl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3657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  <a:defRPr sz="6400" b="1">
                <a:solidFill>
                  <a:srgbClr val="FFFFFF"/>
                </a:solidFill>
                <a:latin typeface="Georgia"/>
              </a:defRPr>
            </a:pPr>
            <a:r>
              <a:t>Sakhi Bazaar</a:t>
            </a:r>
          </a:p>
          <a:p>
            <a:pPr>
              <a:spcAft>
                <a:spcPts val="2400"/>
              </a:spcAft>
              <a:defRPr sz="2200">
                <a:solidFill>
                  <a:srgbClr val="D4AF37"/>
                </a:solidFill>
                <a:latin typeface="Calibri"/>
              </a:defRPr>
            </a:pPr>
            <a:r>
              <a:t>AI-Enabled Marketplace for Women Entrepreneurs</a:t>
            </a:r>
          </a:p>
          <a:p>
            <a:pPr>
              <a:spcBef>
                <a:spcPts val="2000"/>
              </a:spcBef>
              <a:defRPr sz="1400" b="1">
                <a:solidFill>
                  <a:srgbClr val="FF6E50"/>
                </a:solidFill>
                <a:latin typeface="Calibri"/>
              </a:defRPr>
            </a:pPr>
            <a:r>
              <a:t>PROJECT REVIEW &amp; REVIEW PRESENTATION</a:t>
            </a:r>
          </a:p>
          <a:p>
            <a:pPr>
              <a:defRPr sz="1200">
                <a:solidFill>
                  <a:srgbClr val="DCDCDC"/>
                </a:solidFill>
                <a:latin typeface="Calibri"/>
              </a:defRPr>
            </a:pPr>
            <a:r>
              <a:t>Branding, Architecture, Unique AI Solutions &amp; Pros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023360"/>
            <a:ext cx="411480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9728" cy="731520"/>
          </a:xfrm>
          <a:prstGeom prst="rect">
            <a:avLst/>
          </a:prstGeom>
          <a:solidFill>
            <a:srgbClr val="5A1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51560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5A1846"/>
                </a:solidFill>
                <a:latin typeface="Georgia"/>
              </a:defRPr>
            </a:pPr>
            <a:r>
              <a:t>Project Overview &amp; Mission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48640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B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5A1846"/>
                </a:solidFill>
                <a:latin typeface="Georgia"/>
              </a:defRPr>
            </a:pPr>
            <a:r>
              <a:t>Lowering Entry Barriers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Target Audience</a:t>
            </a:r>
            <a:r>
              <a:rPr b="0">
                <a:solidFill>
                  <a:srgbClr val="2C3E50"/>
                </a:solidFill>
              </a:rPr>
              <a:t>: Focuses on women-led micro-enterprises and independent female craftspeople entering the digital space.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Zero-Code Storefronts</a:t>
            </a:r>
            <a:r>
              <a:rPr b="0">
                <a:solidFill>
                  <a:srgbClr val="2C3E50"/>
                </a:solidFill>
              </a:rPr>
              <a:t>: Provides simple, intuitive seller dashboards to list products and track payments with zero technical setup.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5A1846"/>
                </a:solidFill>
              </a:rPr>
              <a:t>AI Assistance Integration</a:t>
            </a:r>
            <a:r>
              <a:rPr b="0">
                <a:solidFill>
                  <a:srgbClr val="2C3E50"/>
                </a:solidFill>
              </a:rPr>
              <a:t>: Native integration with large language models to help sellers draft catalog write-ups and sales materials.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Market Value Guidelines</a:t>
            </a:r>
            <a:r>
              <a:rPr b="0">
                <a:solidFill>
                  <a:srgbClr val="2C3E50"/>
                </a:solidFill>
              </a:rPr>
              <a:t>: Built-in pricing intelligence to ensure independent creators can price their items fairly and remain competitive.</a:t>
            </a:r>
          </a:p>
        </p:txBody>
      </p:sp>
      <p:pic>
        <p:nvPicPr>
          <p:cNvPr id="6" name="Picture 5" descr="women_entrepreneu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475488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675120" y="1645920"/>
            <a:ext cx="4754880" cy="4389120"/>
          </a:xfrm>
          <a:prstGeom prst="rect">
            <a:avLst/>
          </a:prstGeom>
          <a:noFill/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9728" cy="731520"/>
          </a:xfrm>
          <a:prstGeom prst="rect">
            <a:avLst/>
          </a:prstGeom>
          <a:solidFill>
            <a:srgbClr val="5A1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51560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5A1846"/>
                </a:solidFill>
                <a:latin typeface="Georgia"/>
              </a:defRPr>
            </a:pPr>
            <a:r>
              <a:t>Unique Features &amp; Problem Solving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B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5A1846"/>
                </a:solidFill>
                <a:latin typeface="Georgia"/>
              </a:defRPr>
            </a:pPr>
            <a:r>
              <a:t>The Barriers for Small Scale Sellers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Copywriting Anxiety</a:t>
            </a:r>
            <a:r>
              <a:rPr b="0">
                <a:solidFill>
                  <a:srgbClr val="2C3E50"/>
                </a:solidFill>
              </a:rPr>
              <a:t>: Micro-sellers struggle to write engaging, grammatically correct product descriptions in English.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Social Media Friction</a:t>
            </a:r>
            <a:r>
              <a:rPr b="0">
                <a:solidFill>
                  <a:srgbClr val="2C3E50"/>
                </a:solidFill>
              </a:rPr>
              <a:t>: Writing distinct promotional captions with proper hashtags for WhatsApp, Facebook, or Instagram is tedious.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Pricing Blindspots</a:t>
            </a:r>
            <a:r>
              <a:rPr b="0">
                <a:solidFill>
                  <a:srgbClr val="2C3E50"/>
                </a:solidFill>
              </a:rPr>
              <a:t>: Creators lack access to localized bazaar rates, risking severe underpricing or overpricing.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B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5A1846"/>
                </a:solidFill>
                <a:latin typeface="Georgia"/>
              </a:defRPr>
            </a:pPr>
            <a:r>
              <a:t>How Sakhi Bazaar Solves It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Gemini AI Description</a:t>
            </a:r>
            <a:r>
              <a:rPr b="0">
                <a:solidFill>
                  <a:srgbClr val="2C3E50"/>
                </a:solidFill>
              </a:rPr>
              <a:t>: Instantly drafts professional, warm, storytelling descriptions from a simple title and categories.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One-Click Social Captions</a:t>
            </a:r>
            <a:r>
              <a:rPr b="0">
                <a:solidFill>
                  <a:srgbClr val="2C3E50"/>
                </a:solidFill>
              </a:rPr>
              <a:t>: Generates short, emoji-rich posts tailored for direct social shares with auto-hashtags.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Category Benchmarking</a:t>
            </a:r>
            <a:r>
              <a:rPr b="0">
                <a:solidFill>
                  <a:srgbClr val="2C3E50"/>
                </a:solidFill>
              </a:rPr>
              <a:t>: Scans the platform catalog dynamically, presenting average, min, and max prices during listing entry.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9728" cy="731520"/>
          </a:xfrm>
          <a:prstGeom prst="rect">
            <a:avLst/>
          </a:prstGeom>
          <a:solidFill>
            <a:srgbClr val="5A1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51560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5A1846"/>
                </a:solidFill>
                <a:latin typeface="Georgia"/>
              </a:defRPr>
            </a:pPr>
            <a:r>
              <a:t>AI Copilot: Storytelling &amp; Captions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621792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B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5A1846"/>
                </a:solidFill>
                <a:latin typeface="Georgia"/>
              </a:defRPr>
            </a:pPr>
            <a:r>
              <a:t>Gemini Generative Capabilities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Gemini 1.5 Flash Model</a:t>
            </a:r>
            <a:r>
              <a:rPr b="0">
                <a:solidFill>
                  <a:srgbClr val="2C3E50"/>
                </a:solidFill>
              </a:rPr>
              <a:t>: Fast, highly optimized API calls generated directly from backend controller scripts.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Contextual Copywriting</a:t>
            </a:r>
            <a:r>
              <a:rPr b="0">
                <a:solidFill>
                  <a:srgbClr val="2C3E50"/>
                </a:solidFill>
              </a:rPr>
              <a:t>: Prompts are structured to enforce a warm, local, customer-friendly voice that highlights craftsmanship.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One-Click Clipboard Sync</a:t>
            </a:r>
            <a:r>
              <a:rPr b="0">
                <a:solidFill>
                  <a:srgbClr val="2C3E50"/>
                </a:solidFill>
              </a:rPr>
              <a:t>: Integrates with Javascript's Navigator Clipboard API for instant copy-pasting to WhatsApp or Instagram.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Price Valuation Advisor</a:t>
            </a:r>
            <a:r>
              <a:rPr b="0">
                <a:solidFill>
                  <a:srgbClr val="2C3E50"/>
                </a:solidFill>
              </a:rPr>
              <a:t>: Prompts the AI model to crosscheck category benchmarks and recommend retail corridors during catalog creation.</a:t>
            </a:r>
          </a:p>
        </p:txBody>
      </p:sp>
      <p:pic>
        <p:nvPicPr>
          <p:cNvPr id="6" name="Picture 5" descr="ai_storefront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645920"/>
            <a:ext cx="402336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406640" y="1645920"/>
            <a:ext cx="4023360" cy="4389120"/>
          </a:xfrm>
          <a:prstGeom prst="rect">
            <a:avLst/>
          </a:prstGeom>
          <a:noFill/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9728" cy="731520"/>
          </a:xfrm>
          <a:prstGeom prst="rect">
            <a:avLst/>
          </a:prstGeom>
          <a:solidFill>
            <a:srgbClr val="5A1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51560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5A1846"/>
                </a:solidFill>
                <a:latin typeface="Georgia"/>
              </a:defRPr>
            </a:pPr>
            <a:r>
              <a:t>System Architecture &amp; Data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328416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B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5A1846"/>
                </a:solidFill>
                <a:latin typeface="Georgia"/>
              </a:defRPr>
            </a:pPr>
            <a:r>
              <a:t>1. Frontend Presentation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React Single Page Application</a:t>
            </a:r>
            <a:r>
              <a:rPr b="0">
                <a:solidFill>
                  <a:srgbClr val="2C3E50"/>
                </a:solidFill>
              </a:rPr>
              <a:t>: Serves as the interactive storefront. Built on the reactive React 19 engine.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Tailwind CSS (v4)</a:t>
            </a:r>
            <a:r>
              <a:rPr b="0">
                <a:solidFill>
                  <a:srgbClr val="2C3E50"/>
                </a:solidFill>
              </a:rPr>
              <a:t>: Modern, highly responsive utility styles that load quickly on mobile devices.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Client-side SDKs</a:t>
            </a:r>
            <a:r>
              <a:rPr b="0">
                <a:solidFill>
                  <a:srgbClr val="2C3E50"/>
                </a:solidFill>
              </a:rPr>
              <a:t>: Connects directly to Firebase Auth widgets and manages token requests.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425696" y="1645920"/>
            <a:ext cx="3328416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B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5A1846"/>
                </a:solidFill>
                <a:latin typeface="Georgia"/>
              </a:defRPr>
            </a:pPr>
            <a:r>
              <a:t>2. Backend API Logic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Node.js / Express Server</a:t>
            </a:r>
            <a:r>
              <a:rPr b="0">
                <a:solidFill>
                  <a:srgbClr val="2C3E50"/>
                </a:solidFill>
              </a:rPr>
              <a:t>: Host for the central REST API. Handles route security and parses request headers.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Auth Middleware</a:t>
            </a:r>
            <a:r>
              <a:rPr b="0">
                <a:solidFill>
                  <a:srgbClr val="2C3E50"/>
                </a:solidFill>
              </a:rPr>
              <a:t>: Custom verifyToken script intercepts requests, validating JWTs from HTTPOnly secure cookies.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Image Middleware</a:t>
            </a:r>
            <a:r>
              <a:rPr b="0">
                <a:solidFill>
                  <a:srgbClr val="2C3E50"/>
                </a:solidFill>
              </a:rPr>
              <a:t>: Intercepts binary image data and pipelines it securely directly to Cloudinary.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8119872" y="1645920"/>
            <a:ext cx="3328416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B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5A1846"/>
                </a:solidFill>
                <a:latin typeface="Georgia"/>
              </a:defRPr>
            </a:pPr>
            <a:r>
              <a:t>3. Databases &amp; Cloud APIs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MongoDB (NoSQL)</a:t>
            </a:r>
            <a:r>
              <a:rPr b="0">
                <a:solidFill>
                  <a:srgbClr val="2C3E50"/>
                </a:solidFill>
              </a:rPr>
              <a:t>: Stores catalog collections, user schemas, and bookmarks model metadata cleanly via Mongoose.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Cloudinary Asset Storage</a:t>
            </a:r>
            <a:r>
              <a:rPr b="0">
                <a:solidFill>
                  <a:srgbClr val="2C3E50"/>
                </a:solidFill>
              </a:rPr>
              <a:t>: Stores optimized image files. Prevents database bloat and speeds up image delivery via Caching CDN.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Gemini SDK Integrations</a:t>
            </a:r>
            <a:r>
              <a:rPr b="0">
                <a:solidFill>
                  <a:srgbClr val="2C3E50"/>
                </a:solidFill>
              </a:rPr>
              <a:t>: Facilitates server-to-server secure queries directly to Google models.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14800" y="3657600"/>
            <a:ext cx="256032" cy="182880"/>
          </a:xfrm>
          <a:prstGeom prst="rightArrow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7808975" y="3657600"/>
            <a:ext cx="256032" cy="182880"/>
          </a:xfrm>
          <a:prstGeom prst="rightArrow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9728" cy="731520"/>
          </a:xfrm>
          <a:prstGeom prst="rect">
            <a:avLst/>
          </a:prstGeom>
          <a:solidFill>
            <a:srgbClr val="5A1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51560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5A1846"/>
                </a:solidFill>
                <a:latin typeface="Georgia"/>
              </a:defRPr>
            </a:pPr>
            <a:r>
              <a:t>Pros &amp; Platform Advantages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B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5A1846"/>
                </a:solidFill>
                <a:latin typeface="Georgia"/>
              </a:defRPr>
            </a:pPr>
            <a:r>
              <a:t>Seller &amp; Merchant Benefits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Democratized Access</a:t>
            </a:r>
            <a:r>
              <a:rPr b="0">
                <a:solidFill>
                  <a:srgbClr val="2C3E50"/>
                </a:solidFill>
              </a:rPr>
              <a:t>: Zero-code listings enable micro-sellers with low computer literacy to run high-converting stores.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Engaging Product Storytelling</a:t>
            </a:r>
            <a:r>
              <a:rPr b="0">
                <a:solidFill>
                  <a:srgbClr val="2C3E50"/>
                </a:solidFill>
              </a:rPr>
              <a:t>: AI generates welcoming, culturally warm descriptions that increase customer trust and conversions.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Pricing Protection</a:t>
            </a:r>
            <a:r>
              <a:rPr b="0">
                <a:solidFill>
                  <a:srgbClr val="2C3E50"/>
                </a:solidFill>
              </a:rPr>
              <a:t>: Dynamic price checking prevents rural sellers from accidentally underpricing their handcrafted valuables.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B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5A1846"/>
                </a:solidFill>
                <a:latin typeface="Georgia"/>
              </a:defRPr>
            </a:pPr>
            <a:r>
              <a:t>Technical &amp; Platform Pros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Scalable Architecture</a:t>
            </a:r>
            <a:r>
              <a:rPr b="0">
                <a:solidFill>
                  <a:srgbClr val="2C3E50"/>
                </a:solidFill>
              </a:rPr>
              <a:t>: Storing images on Cloudinary and authentication logs on Firebase reduces server database operations.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High-Performance UX</a:t>
            </a:r>
            <a:r>
              <a:rPr b="0">
                <a:solidFill>
                  <a:srgbClr val="2C3E50"/>
                </a:solidFill>
              </a:rPr>
              <a:t>: Built with React 19 for instantaneous UI response and component rendering.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Enterprise Level Security</a:t>
            </a:r>
            <a:r>
              <a:rPr b="0">
                <a:solidFill>
                  <a:srgbClr val="2C3E50"/>
                </a:solidFill>
              </a:rPr>
              <a:t>: Role-based access validation (customer vs. seller vs. admin) backed by secure HTTPOnly cookie tokens.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9728" cy="731520"/>
          </a:xfrm>
          <a:prstGeom prst="rect">
            <a:avLst/>
          </a:prstGeom>
          <a:solidFill>
            <a:srgbClr val="5A1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51560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5A1846"/>
                </a:solidFill>
                <a:latin typeface="Georgia"/>
              </a:defRPr>
            </a:pPr>
            <a:r>
              <a:t>Platform User Roles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328416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B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5A1846"/>
                </a:solidFill>
                <a:latin typeface="Georgia"/>
              </a:defRPr>
            </a:pPr>
            <a:r>
              <a:t>1. The Buyer (Customer)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Browse Public Products</a:t>
            </a:r>
            <a:r>
              <a:rPr b="0">
                <a:solidFill>
                  <a:srgbClr val="2C3E50"/>
                </a:solidFill>
              </a:rPr>
              <a:t>: View recent items, apply text search, and filter by categories.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Engage &amp; Copy</a:t>
            </a:r>
            <a:r>
              <a:rPr b="0">
                <a:solidFill>
                  <a:srgbClr val="2C3E50"/>
                </a:solidFill>
              </a:rPr>
              <a:t>: View seller contacts, copy AI-generated promotional text.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Secure Cart Checkout</a:t>
            </a:r>
            <a:r>
              <a:rPr b="0">
                <a:solidFill>
                  <a:srgbClr val="2C3E50"/>
                </a:solidFill>
              </a:rPr>
              <a:t>: Process credit card payments safely.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425696" y="1645920"/>
            <a:ext cx="3328416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B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5A1846"/>
                </a:solidFill>
                <a:latin typeface="Georgia"/>
              </a:defRPr>
            </a:pPr>
            <a:r>
              <a:t>2. The Seller (Entrepreneur)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Dashboard Console</a:t>
            </a:r>
            <a:r>
              <a:rPr b="0">
                <a:solidFill>
                  <a:srgbClr val="2C3E50"/>
                </a:solidFill>
              </a:rPr>
              <a:t>: Create, edit, and delete product cards.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5A1846"/>
                </a:solidFill>
              </a:rPr>
              <a:t>AI copywriter</a:t>
            </a:r>
            <a:r>
              <a:rPr b="0">
                <a:solidFill>
                  <a:srgbClr val="2C3E50"/>
                </a:solidFill>
              </a:rPr>
              <a:t>: Access instant Gemini descriptions and WhatsApp tags.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Market insights</a:t>
            </a:r>
            <a:r>
              <a:rPr b="0">
                <a:solidFill>
                  <a:srgbClr val="2C3E50"/>
                </a:solidFill>
              </a:rPr>
              <a:t>: Compare listed prices against category statistics.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119872" y="1645920"/>
            <a:ext cx="3328416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B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5A1846"/>
                </a:solidFill>
                <a:latin typeface="Georgia"/>
              </a:defRPr>
            </a:pPr>
            <a:r>
              <a:t>3. The Platform Admin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Seller Verification</a:t>
            </a:r>
            <a:r>
              <a:rPr b="0">
                <a:solidFill>
                  <a:srgbClr val="2C3E50"/>
                </a:solidFill>
              </a:rPr>
              <a:t>: Vets business credentials of onboarding entrepreneurs.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Content Moderation</a:t>
            </a:r>
            <a:r>
              <a:rPr b="0">
                <a:solidFill>
                  <a:srgbClr val="2C3E50"/>
                </a:solidFill>
              </a:rPr>
              <a:t>: Flag/remove inappropriate products.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Sales Dashboard</a:t>
            </a:r>
            <a:r>
              <a:rPr b="0">
                <a:solidFill>
                  <a:srgbClr val="2C3E50"/>
                </a:solidFill>
              </a:rPr>
              <a:t>: Review global metrics and transaction details.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