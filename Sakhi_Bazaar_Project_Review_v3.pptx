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4B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772400" y="0"/>
            <a:ext cx="914400" cy="6858000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Georgia"/>
              </a:defRPr>
            </a:pPr>
            <a:r>
              <a:t>Sakhi Bazaar</a:t>
            </a:r>
          </a:p>
          <a:p>
            <a:pPr>
              <a:spcAft>
                <a:spcPts val="2400"/>
              </a:spcAft>
              <a:defRPr sz="2200">
                <a:solidFill>
                  <a:srgbClr val="D4AF37"/>
                </a:solidFill>
                <a:latin typeface="Calibri"/>
              </a:defRPr>
            </a:pPr>
            <a:r>
              <a:t>AI-Enabled Marketplace for Women Entrepreneurs</a:t>
            </a:r>
          </a:p>
          <a:p>
            <a:pPr>
              <a:spcBef>
                <a:spcPts val="2000"/>
              </a:spcBef>
              <a:defRPr sz="1400" b="1">
                <a:solidFill>
                  <a:srgbClr val="FF6E50"/>
                </a:solidFill>
                <a:latin typeface="Calibri"/>
              </a:defRPr>
            </a:pPr>
            <a:r>
              <a:t>PROJECT REVIEW &amp; STRATEGY SLIDES</a:t>
            </a:r>
          </a:p>
          <a:p>
            <a:pPr>
              <a:defRPr sz="1200">
                <a:solidFill>
                  <a:srgbClr val="DCDCDC"/>
                </a:solidFill>
                <a:latin typeface="Calibri"/>
              </a:defRPr>
            </a:pPr>
            <a:r>
              <a:t>Problem &gt; Solution &gt; Features &gt; Architecture &gt; Pros &amp;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41148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Digital Barriers for Micro-Merchants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Technical Literacy Barriers</a:t>
            </a:r>
            <a:r>
              <a:rPr b="0">
                <a:solidFill>
                  <a:srgbClr val="2C3E50"/>
                </a:solidFill>
              </a:rPr>
              <a:t>: Rural and independent women entrepreneurs struggle with complex e-commerce listing panels and website builders.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Copywriting Friction</a:t>
            </a:r>
            <a:r>
              <a:rPr b="0">
                <a:solidFill>
                  <a:srgbClr val="2C3E50"/>
                </a:solidFill>
              </a:rPr>
              <a:t>: Writing professional, grammatically correct product descriptions and engaging social media text is a significant pain point.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Store Customization Costs</a:t>
            </a:r>
            <a:r>
              <a:rPr b="0">
                <a:solidFill>
                  <a:srgbClr val="2C3E50"/>
                </a:solidFill>
              </a:rPr>
              <a:t>: Hiring web developers to set up digital storefronts is economically impossible for micro-sellers.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Marketplace &amp; Financial Hurdles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Pricing Disadvantage</a:t>
            </a:r>
            <a:r>
              <a:rPr b="0">
                <a:solidFill>
                  <a:srgbClr val="2C3E50"/>
                </a:solidFill>
              </a:rPr>
              <a:t>: Creators lack access to localized bazaar metrics, often severely underpricing their handcrafted products.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Identity Verification &amp; Trust</a:t>
            </a:r>
            <a:r>
              <a:rPr b="0">
                <a:solidFill>
                  <a:srgbClr val="2C3E50"/>
                </a:solidFill>
              </a:rPr>
              <a:t>: Independent micro-sellers struggle to establish legitimacy and buyer trust in crowded online spaces.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Transaction Security</a:t>
            </a:r>
            <a:r>
              <a:rPr b="0">
                <a:solidFill>
                  <a:srgbClr val="2C3E50"/>
                </a:solidFill>
              </a:rPr>
              <a:t>: Managing online credit/debit card collections safely without coding knowledge exposes sellers to hacking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2. The Expected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A Tailored E-Commerce Platform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Zero-Code Storefront</a:t>
            </a:r>
            <a:r>
              <a:rPr b="0">
                <a:solidFill>
                  <a:srgbClr val="2C3E50"/>
                </a:solidFill>
              </a:rPr>
              <a:t>: Setup a personalized digital shop in seconds by inputting basic product criteria, with no coding required.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Generative Co-Writer</a:t>
            </a:r>
            <a:r>
              <a:rPr b="0">
                <a:solidFill>
                  <a:srgbClr val="2C3E50"/>
                </a:solidFill>
              </a:rPr>
              <a:t>: Instant storytelling descriptions and emoji-rich captions optimized for WhatsApp, Facebook, or Instagram.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Dynamic Price Benchmarks</a:t>
            </a:r>
            <a:r>
              <a:rPr b="0">
                <a:solidFill>
                  <a:srgbClr val="2C3E50"/>
                </a:solidFill>
              </a:rPr>
              <a:t>: Calculations of category statistics (Min, Max, Avg) directly inside the listing form.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Vetted Storefront Badges</a:t>
            </a:r>
            <a:r>
              <a:rPr b="0">
                <a:solidFill>
                  <a:srgbClr val="2C3E50"/>
                </a:solidFill>
              </a:rPr>
              <a:t>: Admin console to verify credentials, giving independent sellers a verified trust badge.</a:t>
            </a:r>
          </a:p>
        </p:txBody>
      </p:sp>
      <p:pic>
        <p:nvPicPr>
          <p:cNvPr id="6" name="Picture 5" descr="women_entrepren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3. 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87168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AI Assist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Descriptions</a:t>
            </a:r>
            <a:r>
              <a:rPr b="0">
                <a:solidFill>
                  <a:srgbClr val="2C3E50"/>
                </a:solidFill>
              </a:rPr>
              <a:t>: Gemini drafts warm, narrative listings.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Social Captions</a:t>
            </a:r>
            <a:r>
              <a:rPr b="0">
                <a:solidFill>
                  <a:srgbClr val="2C3E50"/>
                </a:solidFill>
              </a:rPr>
              <a:t>: Generates short posts with tags.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One-Click Clipboard</a:t>
            </a:r>
            <a:r>
              <a:rPr b="0">
                <a:solidFill>
                  <a:srgbClr val="2C3E50"/>
                </a:solidFill>
              </a:rPr>
              <a:t>: Instant copying to clipboard for social sharing.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1568" y="1645920"/>
            <a:ext cx="2487168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Price Intelligence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Category Analytics</a:t>
            </a:r>
            <a:r>
              <a:rPr b="0">
                <a:solidFill>
                  <a:srgbClr val="2C3E50"/>
                </a:solidFill>
              </a:rPr>
              <a:t>: Displays min, max, and avg pricing on forms.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Price advisor</a:t>
            </a:r>
            <a:r>
              <a:rPr b="0">
                <a:solidFill>
                  <a:srgbClr val="2C3E50"/>
                </a:solidFill>
              </a:rPr>
              <a:t>: Prompts Gemini for corridor retail suggestions.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Transparency Widget</a:t>
            </a:r>
            <a:r>
              <a:rPr b="0">
                <a:solidFill>
                  <a:srgbClr val="2C3E50"/>
                </a:solidFill>
              </a:rPr>
              <a:t>: Embeds price spreads for buyers.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1616" y="1645920"/>
            <a:ext cx="2487168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Identity &amp; Safety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Firebase SSO</a:t>
            </a:r>
            <a:r>
              <a:rPr b="0">
                <a:solidFill>
                  <a:srgbClr val="2C3E50"/>
                </a:solidFill>
              </a:rPr>
              <a:t>: Quick, secure Google authentication.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Secure Cookie JWT</a:t>
            </a:r>
            <a:r>
              <a:rPr b="0">
                <a:solidFill>
                  <a:srgbClr val="2C3E50"/>
                </a:solidFill>
              </a:rPr>
              <a:t>: Session tokens saved in HTTPOnly cookies.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Stripe / Razorpay</a:t>
            </a:r>
            <a:r>
              <a:rPr b="0">
                <a:solidFill>
                  <a:srgbClr val="2C3E50"/>
                </a:solidFill>
              </a:rPr>
              <a:t>: Signature-verified webhook checkout (Planned).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1664" y="1645920"/>
            <a:ext cx="2487168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Cloud &amp; CDN Performance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Auto CDN Pipeline</a:t>
            </a:r>
            <a:r>
              <a:rPr b="0">
                <a:solidFill>
                  <a:srgbClr val="2C3E50"/>
                </a:solidFill>
              </a:rPr>
              <a:t>: Cloudinary compresses uploads to WebP.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Low-Bandwidth UX</a:t>
            </a:r>
            <a:r>
              <a:rPr b="0">
                <a:solidFill>
                  <a:srgbClr val="2C3E50"/>
                </a:solidFill>
              </a:rPr>
              <a:t>: Fast catalog rendering on rural networks.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Decoupled Model</a:t>
            </a:r>
            <a:r>
              <a:rPr b="0">
                <a:solidFill>
                  <a:srgbClr val="2C3E50"/>
                </a:solidFill>
              </a:rPr>
              <a:t>: Media assets bypass MongoDB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4. System Architecture &amp;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Core Data Communication Loops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Frictionless Auth Flow</a:t>
            </a:r>
            <a:r>
              <a:rPr b="0">
                <a:solidFill>
                  <a:srgbClr val="2C3E50"/>
                </a:solidFill>
              </a:rPr>
              <a:t>: Google SSO token verification offloaded to Firebase SDK. Session JWTs are issued via HTTPOnly cookies to block XSS script access.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Smart Catalog Upload Flow</a:t>
            </a:r>
            <a:r>
              <a:rPr b="0">
                <a:solidFill>
                  <a:srgbClr val="2C3E50"/>
                </a:solidFill>
              </a:rPr>
              <a:t>: Seller submits product data. Images pipeline directly to Cloudinary edge nodes for compression to WebP. Metadata documents store in MongoDB.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Generative Flow</a:t>
            </a:r>
            <a:r>
              <a:rPr b="0">
                <a:solidFill>
                  <a:srgbClr val="2C3E50"/>
                </a:solidFill>
              </a:rPr>
              <a:t>: Backend compiles listing criteria into structured prompts, securely calling the Google Gemini SDK.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Verified Payments Flow</a:t>
            </a:r>
            <a:r>
              <a:rPr b="0">
                <a:solidFill>
                  <a:srgbClr val="2C3E50"/>
                </a:solidFill>
              </a:rPr>
              <a:t>: Stripe Checkout session coordinates payment keys, verified on backend via signature-check webhooks.</a:t>
            </a:r>
          </a:p>
        </p:txBody>
      </p:sp>
      <p:pic>
        <p:nvPicPr>
          <p:cNvPr id="6" name="Picture 5" descr="ai_storefron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02336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645920"/>
            <a:ext cx="402336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System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9260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1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5A1846"/>
                </a:solidFill>
              </a:defRPr>
            </a:pPr>
            <a:r>
              <a:t>Presentation Layer</a:t>
            </a:r>
            <a:br/>
            <a:r>
              <a:t>(React 19 &amp; Tailwind)</a:t>
            </a:r>
          </a:p>
          <a:p>
            <a:br/>
            <a:pPr>
              <a:defRPr sz="1100">
                <a:solidFill>
                  <a:srgbClr val="2C3E50"/>
                </a:solidFill>
              </a:defRPr>
            </a:pPr>
            <a:r>
              <a:t>• Google Firebase Auth SSO</a:t>
            </a:r>
            <a:br/>
            <a:r>
              <a:t>• Seller Inventory Console</a:t>
            </a:r>
            <a:br/>
            <a:r>
              <a:t>• Price Comparison Widget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29260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1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5A1846"/>
                </a:solidFill>
              </a:defRPr>
            </a:pPr>
            <a:r>
              <a:t>API Gateway Server</a:t>
            </a:r>
            <a:br/>
            <a:r>
              <a:t>(Node.js &amp; Express)</a:t>
            </a:r>
          </a:p>
          <a:p>
            <a:br/>
            <a:pPr>
              <a:defRPr sz="1100">
                <a:solidFill>
                  <a:srgbClr val="2C3E50"/>
                </a:solidFill>
              </a:defRPr>
            </a:pPr>
            <a:r>
              <a:t>• verifyToken JWT Middleware</a:t>
            </a:r>
            <a:br/>
            <a:r>
              <a:t>• Cloudinary Image Uploader</a:t>
            </a:r>
            <a:br/>
            <a:r>
              <a:t>• Gemini Prompt Compiler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3017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1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5A1846"/>
                </a:solidFill>
              </a:defRPr>
            </a:pPr>
            <a:r>
              <a:t>Infrastructure &amp; Resources</a:t>
            </a:r>
          </a:p>
          <a:p>
            <a:br/>
            <a:pPr>
              <a:defRPr sz="1100">
                <a:solidFill>
                  <a:srgbClr val="2C3E50"/>
                </a:solidFill>
              </a:defRPr>
            </a:pPr>
            <a:r>
              <a:t>• MongoDB (Mongoose Schema docs)</a:t>
            </a:r>
            <a:br/>
            <a:r>
              <a:t>• Cloudinary CDN (Image WebP cache)</a:t>
            </a:r>
            <a:br/>
            <a:r>
              <a:t>• Google Gemini API (AI text models)</a:t>
            </a:r>
            <a:br/>
            <a:r>
              <a:t>• Stripe / Razorpay (Payment API hooks)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743200"/>
            <a:ext cx="64008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Data &amp; Asset Integration Flow Loops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Frictionless Client Auth Loop</a:t>
            </a:r>
            <a:r>
              <a:rPr b="0">
                <a:solidFill>
                  <a:srgbClr val="2C3E50"/>
                </a:solidFill>
              </a:rPr>
              <a:t>: SSO is processed via Firebase; session JWT token validated on Express server via secure cookies.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Performance-Optimized Asset Loop</a:t>
            </a:r>
            <a:r>
              <a:rPr b="0">
                <a:solidFill>
                  <a:srgbClr val="2C3E50"/>
                </a:solidFill>
              </a:rPr>
              <a:t>: Products are saved in MongoDB, while heavy images route directly to Cloudinary WebP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5. Advantages &amp; Pros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Seller &amp; Business Advantages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Technical Equality</a:t>
            </a:r>
            <a:r>
              <a:rPr b="0">
                <a:solidFill>
                  <a:srgbClr val="2C3E50"/>
                </a:solidFill>
              </a:rPr>
              <a:t>: Zero-code panels allow sellers with limited computer skills to establish competitive online presences.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Professional Marketing</a:t>
            </a:r>
            <a:r>
              <a:rPr b="0">
                <a:solidFill>
                  <a:srgbClr val="2C3E50"/>
                </a:solidFill>
              </a:rPr>
              <a:t>: Storytelling AI product copy captures buyer focus, leading to improved conversions.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Price Margin Protection</a:t>
            </a:r>
            <a:r>
              <a:rPr b="0">
                <a:solidFill>
                  <a:srgbClr val="2C3E50"/>
                </a:solidFill>
              </a:rPr>
              <a:t>: Dynamic category metrics protect independent artisans from underpricing their efforts.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Technical &amp; Architecture Pros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Lightweight DB Footprint</a:t>
            </a:r>
            <a:r>
              <a:rPr b="0">
                <a:solidFill>
                  <a:srgbClr val="2C3E50"/>
                </a:solidFill>
              </a:rPr>
              <a:t>: Shifting media storage to Cloudinary and user verification logs to Firebase offloads database performance.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Secure Session Handling</a:t>
            </a:r>
            <a:r>
              <a:rPr b="0">
                <a:solidFill>
                  <a:srgbClr val="2C3E50"/>
                </a:solidFill>
              </a:rPr>
              <a:t>: JWTs stored in HTTPOnly cookies block XSS token extraction vectors.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Low-Bandwidth Mobile Focus</a:t>
            </a:r>
            <a:r>
              <a:rPr b="0">
                <a:solidFill>
                  <a:srgbClr val="2C3E50"/>
                </a:solidFill>
              </a:rPr>
              <a:t>: Auto-conversion of uploads to WebP guarantees fast page loading on rural, unstable network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6. Feasibility &amp;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Project Feasibility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Technical Feasibility</a:t>
            </a:r>
            <a:r>
              <a:rPr b="0">
                <a:solidFill>
                  <a:srgbClr val="2C3E50"/>
                </a:solidFill>
              </a:rPr>
              <a:t>: High. The platform utilizes proven Node/Express, React, and MongoDB patterns. Integrations with Firebase SDK, Cloudinary, and Google Gemini API are fully operational (as demonstrated in the MVP Phase 1 release).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Operational Feasibility</a:t>
            </a:r>
            <a:r>
              <a:rPr b="0">
                <a:solidFill>
                  <a:srgbClr val="2C3E50"/>
                </a:solidFill>
              </a:rPr>
              <a:t>: High. Zero-code shop dashboards eliminate merchant user training. Admin consoles simplify vetting, business credential review, and content flags, keeping platform operations clean.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Project Economic Viability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Economic Viability</a:t>
            </a:r>
            <a:r>
              <a:rPr b="0">
                <a:solidFill>
                  <a:srgbClr val="2C3E50"/>
                </a:solidFill>
              </a:rPr>
              <a:t>: Highly Sustainable. Leveraging SaaS resources with generous free tiers (Firebase Auth, Cloudinary base storage, Gemini developer key brackets) keeps base hosting costs minimal.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Market Monetization Model</a:t>
            </a:r>
            <a:r>
              <a:rPr b="0">
                <a:solidFill>
                  <a:srgbClr val="2C3E50"/>
                </a:solidFill>
              </a:rPr>
              <a:t>: The platform scales by taking a minor commission percentage on Stripe/Razorpay checkouts or offering premium verification tier upgrades for sellers.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