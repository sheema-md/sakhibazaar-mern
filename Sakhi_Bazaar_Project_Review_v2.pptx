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4B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772400" y="0"/>
            <a:ext cx="914400" cy="6858000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Georgia"/>
              </a:defRPr>
            </a:pPr>
            <a:r>
              <a:t>Sakhi Bazaar</a:t>
            </a:r>
          </a:p>
          <a:p>
            <a:pPr>
              <a:spcAft>
                <a:spcPts val="2400"/>
              </a:spcAft>
              <a:defRPr sz="2200">
                <a:solidFill>
                  <a:srgbClr val="D4AF37"/>
                </a:solidFill>
                <a:latin typeface="Calibri"/>
              </a:defRPr>
            </a:pPr>
            <a:r>
              <a:t>AI-Enabled Marketplace for Women Entrepreneurs</a:t>
            </a:r>
          </a:p>
          <a:p>
            <a:pPr>
              <a:spcBef>
                <a:spcPts val="2000"/>
              </a:spcBef>
              <a:defRPr sz="1400" b="1">
                <a:solidFill>
                  <a:srgbClr val="FF6E50"/>
                </a:solidFill>
                <a:latin typeface="Calibri"/>
              </a:defRPr>
            </a:pPr>
            <a:r>
              <a:t>PROJECT REVIEW &amp; STRATEGY PRESENTATION</a:t>
            </a:r>
          </a:p>
          <a:p>
            <a:pPr>
              <a:defRPr sz="1200">
                <a:solidFill>
                  <a:srgbClr val="DCDCDC"/>
                </a:solidFill>
                <a:latin typeface="Calibri"/>
              </a:defRPr>
            </a:pPr>
            <a:r>
              <a:t>Unique Features, Architecture, Security, Media Optimization &amp; Pros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41148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Project Overview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Lowering Digital Barriers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Target Audience</a:t>
            </a:r>
            <a:r>
              <a:rPr b="0">
                <a:solidFill>
                  <a:srgbClr val="2C3E50"/>
                </a:solidFill>
              </a:rPr>
              <a:t>: Designed specifically to lower tech barriers for women-led micro-enterprises and independent female artisans.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Zero-Code Onboarding</a:t>
            </a:r>
            <a:r>
              <a:rPr b="0">
                <a:solidFill>
                  <a:srgbClr val="2C3E50"/>
                </a:solidFill>
              </a:rPr>
              <a:t>: Simple store setups allow merchants to list inventory with simple parameters, bypassing complex web forms.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Equitable Growth Platform</a:t>
            </a:r>
            <a:r>
              <a:rPr b="0">
                <a:solidFill>
                  <a:srgbClr val="2C3E50"/>
                </a:solidFill>
              </a:rPr>
              <a:t>: Combines creative AI assistance with practical, data-backed financial tools to grow local micro-stores.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Unified Security &amp; Trust</a:t>
            </a:r>
            <a:r>
              <a:rPr b="0">
                <a:solidFill>
                  <a:srgbClr val="2C3E50"/>
                </a:solidFill>
              </a:rPr>
              <a:t>: Features robust admin control panels to prevent listing fraud and verify merchant business credentials.</a:t>
            </a:r>
          </a:p>
        </p:txBody>
      </p:sp>
      <p:pic>
        <p:nvPicPr>
          <p:cNvPr id="6" name="Picture 5" descr="women_entrepren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Unique Platform Value Propositions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Seller Challenges Solved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Lack of Professional Copy</a:t>
            </a:r>
            <a:r>
              <a:rPr b="0">
                <a:solidFill>
                  <a:srgbClr val="2C3E50"/>
                </a:solidFill>
              </a:rPr>
              <a:t>: Sellers struggle to write compelling, structured product descriptions and WhatsApp tags.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Competitive Pricing Blindspots</a:t>
            </a:r>
            <a:r>
              <a:rPr b="0">
                <a:solidFill>
                  <a:srgbClr val="2C3E50"/>
                </a:solidFill>
              </a:rPr>
              <a:t>: Artisans struggle to gauge localized bazaar rates, risking severe underpricing.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Credential &amp; Customer Trust</a:t>
            </a:r>
            <a:r>
              <a:rPr b="0">
                <a:solidFill>
                  <a:srgbClr val="2C3E50"/>
                </a:solidFill>
              </a:rPr>
              <a:t>: Micro-brands need immediate buyers' trust without expensive custom domain investments.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Unique Solution Features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Generative Co-writer</a:t>
            </a:r>
            <a:r>
              <a:rPr b="0">
                <a:solidFill>
                  <a:srgbClr val="2C3E50"/>
                </a:solidFill>
              </a:rPr>
              <a:t>: Gemini drafts storytelling write-ups and hashtag-rich captions instantly with a single click.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Dynamic Price Intelligence</a:t>
            </a:r>
            <a:r>
              <a:rPr b="0">
                <a:solidFill>
                  <a:srgbClr val="2C3E50"/>
                </a:solidFill>
              </a:rPr>
              <a:t>: Renders real-time category stats (Min, Max, Avg) directly inside the item listing panel.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Vetted Storefront Badges</a:t>
            </a:r>
            <a:r>
              <a:rPr b="0">
                <a:solidFill>
                  <a:srgbClr val="2C3E50"/>
                </a:solidFill>
              </a:rPr>
              <a:t>: Features admin verification controls to review seller papers and display verified trust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Empowerment: AI Writing &amp; Price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AI-Driven Copy &amp; Marketplace Analytics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Dual-Mode Gemini Integration</a:t>
            </a:r>
            <a:r>
              <a:rPr b="0">
                <a:solidFill>
                  <a:srgbClr val="2C3E50"/>
                </a:solidFill>
              </a:rPr>
              <a:t>: Auto-writes a storytelling listing based on basic keywords, and generates emoji-rich social promos.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Category Price Benchmarks</a:t>
            </a:r>
            <a:r>
              <a:rPr b="0">
                <a:solidFill>
                  <a:srgbClr val="2C3E50"/>
                </a:solidFill>
              </a:rPr>
              <a:t>: Fetches platform wide pricing data dynamically to calculate statistical medians on the fly.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Price Comparison Widget</a:t>
            </a:r>
            <a:r>
              <a:rPr b="0">
                <a:solidFill>
                  <a:srgbClr val="2C3E50"/>
                </a:solidFill>
              </a:rPr>
              <a:t>: Enables buyers to view price spreads for similar listings, supporting transparent customer decisions.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One-Click Clipboard Sync</a:t>
            </a:r>
            <a:r>
              <a:rPr b="0">
                <a:solidFill>
                  <a:srgbClr val="2C3E50"/>
                </a:solidFill>
              </a:rPr>
              <a:t>: Navigator Clipboard integration allows copy-to-clipboard for quick sharing to WhatsApp/Instagram.</a:t>
            </a:r>
          </a:p>
        </p:txBody>
      </p:sp>
      <p:pic>
        <p:nvPicPr>
          <p:cNvPr id="6" name="Picture 5" descr="ai_storefron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02336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645920"/>
            <a:ext cx="4023360" cy="438912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Infrastructure: Security &amp; Media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Security &amp; Identity Trust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Hybrid Authentication</a:t>
            </a:r>
            <a:r>
              <a:rPr b="0">
                <a:solidFill>
                  <a:srgbClr val="2C3E50"/>
                </a:solidFill>
              </a:rPr>
              <a:t>: Google Firebase SSO handles federated social logins, combined with custom email login endpoints.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HTTPOnly Cookie Security</a:t>
            </a:r>
            <a:r>
              <a:rPr b="0">
                <a:solidFill>
                  <a:srgbClr val="2C3E50"/>
                </a:solidFill>
              </a:rPr>
              <a:t>: Session JSON Web Tokens (JWT) are saved in HTTPOnly secure cookies, blocking local script XSS attacks.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Signature Verified Checkouts</a:t>
            </a:r>
            <a:r>
              <a:rPr b="0">
                <a:solidFill>
                  <a:srgbClr val="2C3E50"/>
                </a:solidFill>
              </a:rPr>
              <a:t>: Stripe/Razorpay webhooks verify payment tokens server-side before updating orders to 'Paid'.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CDN &amp; Media Performance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Auto-Optimized CDN Pipeline</a:t>
            </a:r>
            <a:r>
              <a:rPr b="0">
                <a:solidFill>
                  <a:srgbClr val="2C3E50"/>
                </a:solidFill>
              </a:rPr>
              <a:t>: Cloudinary middleware intercepts raw photo uploads, compressing and formatting them to modern WebP format.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Mobile-First Delivery</a:t>
            </a:r>
            <a:r>
              <a:rPr b="0">
                <a:solidFill>
                  <a:srgbClr val="2C3E50"/>
                </a:solidFill>
              </a:rPr>
              <a:t>: Optimized media files ensure fast storefront loading speeds for rural buyers on low-bandwidth networks.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Decoupled Database Storage</a:t>
            </a:r>
            <a:r>
              <a:rPr b="0">
                <a:solidFill>
                  <a:srgbClr val="2C3E50"/>
                </a:solidFill>
              </a:rPr>
              <a:t>: Media binary assets bypass the MongoDB database entirely, avoiding server performance bloat.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1. Frontend Presentation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React Single Page Application</a:t>
            </a:r>
            <a:r>
              <a:rPr b="0">
                <a:solidFill>
                  <a:srgbClr val="2C3E50"/>
                </a:solidFill>
              </a:rPr>
              <a:t>: Serves as the interactive storefront. Built on the reactive React 19 engine.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Tailwind CSS (v4)</a:t>
            </a:r>
            <a:r>
              <a:rPr b="0">
                <a:solidFill>
                  <a:srgbClr val="2C3E50"/>
                </a:solidFill>
              </a:rPr>
              <a:t>: Modern, highly responsive utility styles that load quickly on mobile devices.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Client-side SDKs</a:t>
            </a:r>
            <a:r>
              <a:rPr b="0">
                <a:solidFill>
                  <a:srgbClr val="2C3E50"/>
                </a:solidFill>
              </a:rPr>
              <a:t>: Connects directly to Firebase Auth widgets and manages token requests.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2. Backend API Logic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Node.js / Express Server</a:t>
            </a:r>
            <a:r>
              <a:rPr b="0">
                <a:solidFill>
                  <a:srgbClr val="2C3E50"/>
                </a:solidFill>
              </a:rPr>
              <a:t>: Host for the central REST API. Handles route security and parses request headers.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Auth Middleware</a:t>
            </a:r>
            <a:r>
              <a:rPr b="0">
                <a:solidFill>
                  <a:srgbClr val="2C3E50"/>
                </a:solidFill>
              </a:rPr>
              <a:t>: Custom verifyToken script intercepts requests, validating JWTs from HTTPOnly secure cookies.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Image Middleware</a:t>
            </a:r>
            <a:r>
              <a:rPr b="0">
                <a:solidFill>
                  <a:srgbClr val="2C3E50"/>
                </a:solidFill>
              </a:rPr>
              <a:t>: Intercepts binary image data and pipelines it securely directly to Cloudinary.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3. Databases &amp; Cloud APIs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MongoDB (NoSQL)</a:t>
            </a:r>
            <a:r>
              <a:rPr b="0">
                <a:solidFill>
                  <a:srgbClr val="2C3E50"/>
                </a:solidFill>
              </a:rPr>
              <a:t>: Stores catalog collections, user schemas, and bookmarks model metadata cleanly via Mongoose.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Cloudinary Asset Storage</a:t>
            </a:r>
            <a:r>
              <a:rPr b="0">
                <a:solidFill>
                  <a:srgbClr val="2C3E50"/>
                </a:solidFill>
              </a:rPr>
              <a:t>: Stores optimized image files. Prevents database bloat and speeds up image delivery via Caching CDN.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Gemini SDK Integrations</a:t>
            </a:r>
            <a:r>
              <a:rPr b="0">
                <a:solidFill>
                  <a:srgbClr val="2C3E50"/>
                </a:solidFill>
              </a:rPr>
              <a:t>: Facilitates server-to-server secure queries directly to Google models.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657600"/>
            <a:ext cx="256032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808975" y="3657600"/>
            <a:ext cx="256032" cy="18288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Pros &amp; Platform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Seller &amp; Business Benefits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Digital Onboarding Ease</a:t>
            </a:r>
            <a:r>
              <a:rPr b="0">
                <a:solidFill>
                  <a:srgbClr val="2C3E50"/>
                </a:solidFill>
              </a:rPr>
              <a:t>: Zero-code listings enable micro-sellers with low computer literacy to run high-converting stores.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Sales Boosting Copy</a:t>
            </a:r>
            <a:r>
              <a:rPr b="0">
                <a:solidFill>
                  <a:srgbClr val="2C3E50"/>
                </a:solidFill>
              </a:rPr>
              <a:t>: Friendly, high-quality AI-written descriptions increase customer trust and conversion metrics.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Fair Revenue Shielding</a:t>
            </a:r>
            <a:r>
              <a:rPr b="0">
                <a:solidFill>
                  <a:srgbClr val="2C3E50"/>
                </a:solidFill>
              </a:rPr>
              <a:t>: Dynamic price indexes prevent rural artisans from underpricing their handcrafted items.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Technical &amp; Architecture Pros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Media Architecture</a:t>
            </a:r>
            <a:r>
              <a:rPr b="0">
                <a:solidFill>
                  <a:srgbClr val="2C3E50"/>
                </a:solidFill>
              </a:rPr>
              <a:t>: Uploading images to Cloudinary keeps the database lightweight and search indexing highly efficient.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Reduced Server Footprint</a:t>
            </a:r>
            <a:r>
              <a:rPr b="0">
                <a:solidFill>
                  <a:srgbClr val="2C3E50"/>
                </a:solidFill>
              </a:rPr>
              <a:t>: Decoupling social logins to Firebase offloads security overhead and identity validation.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Robust Session Security</a:t>
            </a:r>
            <a:r>
              <a:rPr b="0">
                <a:solidFill>
                  <a:srgbClr val="2C3E50"/>
                </a:solidFill>
              </a:rPr>
              <a:t>: Storing tokens inside HTTPOnly secure cookies protects user credentials against XSS exploits.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" cy="731520"/>
          </a:xfrm>
          <a:prstGeom prst="rect">
            <a:avLst/>
          </a:prstGeom>
          <a:solidFill>
            <a:srgbClr val="5A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105156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5A1846"/>
                </a:solidFill>
                <a:latin typeface="Georgia"/>
              </a:defRPr>
            </a:pPr>
            <a:r>
              <a:t>Platform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1. The Buyer (Customer)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Browse Public Products</a:t>
            </a:r>
            <a:r>
              <a:rPr b="0">
                <a:solidFill>
                  <a:srgbClr val="2C3E50"/>
                </a:solidFill>
              </a:rPr>
              <a:t>: View recent items, apply text search, and filter by categories.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Engage &amp; Copy</a:t>
            </a:r>
            <a:r>
              <a:rPr b="0">
                <a:solidFill>
                  <a:srgbClr val="2C3E50"/>
                </a:solidFill>
              </a:rPr>
              <a:t>: View seller contacts, copy AI-generated promotional text.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Secure Cart Checkout</a:t>
            </a:r>
            <a:r>
              <a:rPr b="0">
                <a:solidFill>
                  <a:srgbClr val="2C3E50"/>
                </a:solidFill>
              </a:rPr>
              <a:t>: Process credit card payments safely.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2. The Seller (Entrepreneur)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Dashboard Console</a:t>
            </a:r>
            <a:r>
              <a:rPr b="0">
                <a:solidFill>
                  <a:srgbClr val="2C3E50"/>
                </a:solidFill>
              </a:rPr>
              <a:t>: Create, edit, and delete product cards.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5A1846"/>
                </a:solidFill>
              </a:rPr>
              <a:t>AI copywriter</a:t>
            </a:r>
            <a:r>
              <a:rPr b="0">
                <a:solidFill>
                  <a:srgbClr val="2C3E50"/>
                </a:solidFill>
              </a:rPr>
              <a:t>: Access instant Gemini descriptions and WhatsApp tags.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Market insights</a:t>
            </a:r>
            <a:r>
              <a:rPr b="0">
                <a:solidFill>
                  <a:srgbClr val="2C3E50"/>
                </a:solidFill>
              </a:rPr>
              <a:t>: Compare listed prices against category statistics.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B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A1846"/>
                </a:solidFill>
                <a:latin typeface="Georgia"/>
              </a:defRPr>
            </a:pPr>
            <a:r>
              <a:t>3. The Platform Admin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Seller Verification</a:t>
            </a:r>
            <a:r>
              <a:rPr b="0">
                <a:solidFill>
                  <a:srgbClr val="2C3E50"/>
                </a:solidFill>
              </a:rPr>
              <a:t>: Vets business credentials of onboarding entrepreneurs.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Content Moderation</a:t>
            </a:r>
            <a:r>
              <a:rPr b="0">
                <a:solidFill>
                  <a:srgbClr val="2C3E50"/>
                </a:solidFill>
              </a:rPr>
              <a:t>: Flag/remove inappropriate products.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0">
                <a:solidFill>
                  <a:srgbClr val="2C3E50"/>
                </a:solidFill>
              </a:rPr>
              <a:t>•  </a:t>
            </a:r>
            <a:r>
              <a:rPr b="1">
                <a:solidFill>
                  <a:srgbClr val="2C3E50"/>
                </a:solidFill>
              </a:rPr>
              <a:t>Sales Dashboard</a:t>
            </a:r>
            <a:r>
              <a:rPr b="0">
                <a:solidFill>
                  <a:srgbClr val="2C3E50"/>
                </a:solidFill>
              </a:rPr>
              <a:t>: Review global metrics and transaction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